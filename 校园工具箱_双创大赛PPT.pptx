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7C4DFF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3657600" cy="3657600"/>
          </a:xfrm>
          <a:prstGeom prst="ellipse">
            <a:avLst/>
          </a:prstGeom>
          <a:solidFill>
            <a:srgbClr val="00D2FF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91440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00D2FF"/>
                </a:solidFill>
                <a:latin typeface="微软雅黑"/>
              </a:rPr>
              <a:t>INNOVATION &amp; ENTREPRENEURSHIP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0584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微软雅黑"/>
              </a:rPr>
              <a:t>校园工具箱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0584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0">
                <a:solidFill>
                  <a:srgbClr val="CCCCDD"/>
                </a:solidFill>
                <a:latin typeface="微软雅黑"/>
              </a:rPr>
              <a:t>Campus Tools — 让校园生活更高效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058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9999AA"/>
                </a:solidFill>
                <a:latin typeface="微软雅黑"/>
              </a:rPr>
              <a:t>基于 it-tools 开源项目改造 · 课表空闲时段计算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9999AA"/>
                </a:solidFill>
                <a:latin typeface="微软雅黑"/>
              </a:rPr>
              <a:t>参赛团队：校园工具箱小组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100" b="0">
                <a:solidFill>
                  <a:srgbClr val="9999AA"/>
                </a:solidFill>
                <a:latin typeface="微软雅黑"/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09728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91440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软雅黑"/>
              </a:rPr>
              <a:t>01  项目背景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0">
                <a:solidFill>
                  <a:srgbClr val="00D2FF"/>
                </a:solidFill>
                <a:latin typeface="微软雅黑"/>
              </a:rPr>
              <a:t>为什么做「校园工具箱」？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3383280" cy="237744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38328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4800" b="1">
                <a:solidFill>
                  <a:srgbClr val="00D2FF"/>
                </a:solidFill>
                <a:latin typeface="微软雅黑"/>
              </a:rPr>
              <a:t>90%+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657600"/>
            <a:ext cx="283464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0">
                <a:solidFill>
                  <a:srgbClr val="CCCCDD"/>
                </a:solidFill>
                <a:latin typeface="微软雅黑"/>
              </a:rPr>
              <a:t>大学生每天使用
5 个以上效率工具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2194560"/>
            <a:ext cx="3383280" cy="237744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2468880"/>
            <a:ext cx="338328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4800" b="1">
                <a:solidFill>
                  <a:srgbClr val="00D2FF"/>
                </a:solidFill>
                <a:latin typeface="微软雅黑"/>
              </a:rPr>
              <a:t>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3657600"/>
            <a:ext cx="283464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0">
                <a:solidFill>
                  <a:srgbClr val="CCCCDD"/>
                </a:solidFill>
                <a:latin typeface="微软雅黑"/>
              </a:rPr>
              <a:t>工具分散在各个 App、
网页、小程序中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194560"/>
            <a:ext cx="3383280" cy="237744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468880"/>
            <a:ext cx="338328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4800" b="1">
                <a:solidFill>
                  <a:srgbClr val="00D2FF"/>
                </a:solidFill>
                <a:latin typeface="微软雅黑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657600"/>
            <a:ext cx="283464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0">
                <a:solidFill>
                  <a:srgbClr val="CCCCDD"/>
                </a:solidFill>
                <a:latin typeface="微软雅黑"/>
              </a:rPr>
              <a:t>专为大学生设计的
聚合工具平台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02920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0">
                <a:solidFill>
                  <a:srgbClr val="CCCCDD"/>
                </a:solidFill>
                <a:latin typeface="微软雅黑"/>
              </a:rPr>
              <a:t>it-tools 是一个成熟的开源工具箱（Vue 3 + TS，月活高，GPL-3.0），架构上「一个工具 = 一个组件」，
新增工具门槛极低。我们以此为底座，将其改造为面向大学生的「校园工具箱」，
在保留通用工具的同时，新增校园专属工具，并实现全中文界面与离线可用。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100" b="0">
                <a:solidFill>
                  <a:srgbClr val="9999AA"/>
                </a:solidFill>
                <a:latin typeface="微软雅黑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09728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91440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软雅黑"/>
              </a:rPr>
              <a:t>02  痛点分析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0">
                <a:solidFill>
                  <a:srgbClr val="00D2FF"/>
                </a:solidFill>
                <a:latin typeface="微软雅黑"/>
              </a:rPr>
              <a:t>「想约同学，却不知道大家什么时候都有空」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212080" cy="18288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9144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微软雅黑"/>
              </a:rPr>
              <a:t>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377440"/>
            <a:ext cx="3657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000" b="1">
                <a:solidFill>
                  <a:srgbClr val="00D2FF"/>
                </a:solidFill>
                <a:latin typeface="微软雅黑"/>
              </a:rPr>
              <a:t>效率低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926080"/>
            <a:ext cx="393192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CCCCDD"/>
                </a:solidFill>
                <a:latin typeface="微软雅黑"/>
              </a:rPr>
              <a:t>手动对照多人课表找共同空闲，
反复沟通「你周一有空吗？周三呢？」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2103120"/>
            <a:ext cx="5212080" cy="18288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79" y="2286000"/>
            <a:ext cx="9144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微软雅黑"/>
              </a:rPr>
              <a:t>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39" y="2377440"/>
            <a:ext cx="3657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000" b="1">
                <a:solidFill>
                  <a:srgbClr val="00D2FF"/>
                </a:solidFill>
                <a:latin typeface="微软雅黑"/>
              </a:rPr>
              <a:t>碎片多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39" y="2926080"/>
            <a:ext cx="393192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CCCCDD"/>
                </a:solidFill>
                <a:latin typeface="微软雅黑"/>
              </a:rPr>
              <a:t>连堂课中间 10–15 分钟休息，
手动计算常出现无意义碎片时间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97679"/>
            <a:ext cx="5212080" cy="18288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59"/>
            <a:ext cx="9144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微软雅黑"/>
              </a:rPr>
              <a:t>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571999"/>
            <a:ext cx="3657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000" b="1">
                <a:solidFill>
                  <a:srgbClr val="00D2FF"/>
                </a:solidFill>
                <a:latin typeface="微软雅黑"/>
              </a:rPr>
              <a:t>隐私差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120639"/>
            <a:ext cx="393192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CCCCDD"/>
                </a:solidFill>
                <a:latin typeface="微软雅黑"/>
              </a:rPr>
              <a:t>部分课表 App 需登录上传课表，
数据存到第三方服务器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4297679"/>
            <a:ext cx="5212080" cy="18288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79" y="4480559"/>
            <a:ext cx="9144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微软雅黑"/>
              </a:rPr>
              <a:t>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39" y="4571999"/>
            <a:ext cx="3657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000" b="1">
                <a:solidFill>
                  <a:srgbClr val="00D2FF"/>
                </a:solidFill>
                <a:latin typeface="微软雅黑"/>
              </a:rPr>
              <a:t>依赖网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39" y="5120639"/>
            <a:ext cx="393192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CCCCDD"/>
                </a:solidFill>
                <a:latin typeface="微软雅黑"/>
              </a:rPr>
              <a:t>校园网不稳定时，在线工具
无法访问，体验中断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100" b="0">
                <a:solidFill>
                  <a:srgbClr val="9999AA"/>
                </a:solidFill>
                <a:latin typeface="微软雅黑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09728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91440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软雅黑"/>
              </a:rPr>
              <a:t>03  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0">
                <a:solidFill>
                  <a:srgbClr val="00D2FF"/>
                </a:solidFill>
                <a:latin typeface="微软雅黑"/>
              </a:rPr>
              <a:t>校园工具箱 — 一个聚合、纯前端、离线可用的工具平台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669280" cy="41148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53035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00D2FF"/>
                </a:solidFill>
                <a:latin typeface="微软雅黑"/>
              </a:rPr>
              <a:t>技术架构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926080"/>
            <a:ext cx="5120640" cy="640080"/>
          </a:xfrm>
          <a:prstGeom prst="roundRect">
            <a:avLst/>
          </a:prstGeom>
          <a:solidFill>
            <a:srgbClr val="30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017520"/>
            <a:ext cx="20116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00D2FF"/>
                </a:solidFill>
                <a:latin typeface="微软雅黑"/>
              </a:rPr>
              <a:t>校园专属工具层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3035808"/>
            <a:ext cx="29260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微软雅黑"/>
              </a:rPr>
              <a:t>课表空闲计算 · 绩点换算 · 公文自检 · 文献格式转换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703320"/>
            <a:ext cx="5120640" cy="640080"/>
          </a:xfrm>
          <a:prstGeom prst="roundRect">
            <a:avLst/>
          </a:prstGeom>
          <a:solidFill>
            <a:srgbClr val="30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794760"/>
            <a:ext cx="20116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7C4DFF"/>
                </a:solidFill>
                <a:latin typeface="微软雅黑"/>
              </a:rPr>
              <a:t>通用工具层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813048"/>
            <a:ext cx="29260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微软雅黑"/>
              </a:rPr>
              <a:t>二维码 · 哈希 · JSON · 编码转换 · 加密 …（来自 it-tools）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4480560"/>
            <a:ext cx="5120640" cy="640080"/>
          </a:xfrm>
          <a:prstGeom prst="roundRect">
            <a:avLst/>
          </a:prstGeom>
          <a:solidFill>
            <a:srgbClr val="30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572000"/>
            <a:ext cx="20116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CCCCDD"/>
                </a:solidFill>
                <a:latin typeface="微软雅黑"/>
              </a:rPr>
              <a:t>底座框架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4590288"/>
            <a:ext cx="29260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微软雅黑"/>
              </a:rPr>
              <a:t>Vue 3 + TypeScript + Vite + Naive UI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5257800"/>
            <a:ext cx="5120640" cy="640080"/>
          </a:xfrm>
          <a:prstGeom prst="roundRect">
            <a:avLst/>
          </a:prstGeom>
          <a:solidFill>
            <a:srgbClr val="30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5349240"/>
            <a:ext cx="20116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PWA 离线层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5367528"/>
            <a:ext cx="29260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微软雅黑"/>
              </a:rPr>
              <a:t>Service Worker 缓存，断网可用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2103120"/>
            <a:ext cx="4846320" cy="86868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2331720"/>
            <a:ext cx="73152" cy="4114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2212848"/>
            <a:ext cx="43891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00D2FF"/>
                </a:solidFill>
                <a:latin typeface="微软雅黑"/>
              </a:rPr>
              <a:t>纯前端计算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2560320"/>
            <a:ext cx="44805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微软雅黑"/>
              </a:rPr>
              <a:t>所有计算在浏览器完成，数据不上传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3154679"/>
            <a:ext cx="4846320" cy="86868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75120" y="3383279"/>
            <a:ext cx="73152" cy="4114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20" y="3264407"/>
            <a:ext cx="43891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00D2FF"/>
                </a:solidFill>
                <a:latin typeface="微软雅黑"/>
              </a:rPr>
              <a:t>全中文界面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3611879"/>
            <a:ext cx="44805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微软雅黑"/>
              </a:rPr>
              <a:t>i18n 本地化，符合使用习惯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75120" y="4206240"/>
            <a:ext cx="4846320" cy="86868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75120" y="4434840"/>
            <a:ext cx="73152" cy="4114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03720" y="4315968"/>
            <a:ext cx="43891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00D2FF"/>
                </a:solidFill>
                <a:latin typeface="微软雅黑"/>
              </a:rPr>
              <a:t>离线可用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4663440"/>
            <a:ext cx="44805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微软雅黑"/>
              </a:rPr>
              <a:t>PWA 缓存，校园网断了也能用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75120" y="5257800"/>
            <a:ext cx="4846320" cy="86868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75120" y="5486400"/>
            <a:ext cx="73152" cy="4114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03720" y="5367528"/>
            <a:ext cx="43891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00D2FF"/>
                </a:solidFill>
                <a:latin typeface="微软雅黑"/>
              </a:rPr>
              <a:t>开源可扩展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5715000"/>
            <a:ext cx="44805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微软雅黑"/>
              </a:rPr>
              <a:t>一个工具=一个组件，人人可贡献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100" b="0">
                <a:solidFill>
                  <a:srgbClr val="9999AA"/>
                </a:solidFill>
                <a:latin typeface="微软雅黑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09728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91440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软雅黑"/>
              </a:rPr>
              <a:t>04  核心功能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0">
                <a:solidFill>
                  <a:srgbClr val="00D2FF"/>
                </a:solidFill>
                <a:latin typeface="微软雅黑"/>
              </a:rPr>
              <a:t>本次新增：课表空闲时段计算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212080" cy="18288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4572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000" b="1">
                <a:solidFill>
                  <a:srgbClr val="00D2FF"/>
                </a:solidFill>
                <a:latin typeface="微软雅黑"/>
              </a:rPr>
              <a:t>① 读入课表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457200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CCCCDD"/>
                </a:solidFill>
                <a:latin typeface="微软雅黑"/>
              </a:rPr>
              <a:t>粘贴 CSV：课程名,星期几,开始,结束
自动解析，支持注释行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2103120"/>
            <a:ext cx="5212080" cy="18288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19" y="2377440"/>
            <a:ext cx="4572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000" b="1">
                <a:solidFill>
                  <a:srgbClr val="00D2FF"/>
                </a:solidFill>
                <a:latin typeface="微软雅黑"/>
              </a:rPr>
              <a:t>② 单人空闲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19" y="2926080"/>
            <a:ext cx="457200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CCCCDD"/>
                </a:solidFill>
                <a:latin typeface="微软雅黑"/>
              </a:rPr>
              <a:t>设定每日可用范围（默认 08:00–22:00）
输出每天的空闲时段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97679"/>
            <a:ext cx="5212080" cy="18288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571999"/>
            <a:ext cx="4572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000" b="1">
                <a:solidFill>
                  <a:srgbClr val="00D2FF"/>
                </a:solidFill>
                <a:latin typeface="微软雅黑"/>
              </a:rPr>
              <a:t>③ 碎片合并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120639"/>
            <a:ext cx="457200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CCCCDD"/>
                </a:solidFill>
                <a:latin typeface="微软雅黑"/>
              </a:rPr>
              <a:t>连堂课小间隔（默认 ≤15 分钟）自动合并
消除 10 分钟无意义碎片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4297679"/>
            <a:ext cx="5212080" cy="18288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19" y="4571999"/>
            <a:ext cx="4572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000" b="1">
                <a:solidFill>
                  <a:srgbClr val="00D2FF"/>
                </a:solidFill>
                <a:latin typeface="微软雅黑"/>
              </a:rPr>
              <a:t>④ 共同空闲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19" y="5120639"/>
            <a:ext cx="457200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CCCCDD"/>
                </a:solidFill>
                <a:latin typeface="微软雅黑"/>
              </a:rPr>
              <a:t>输入多人课表，求交集
按时长从长到短排序，快速找到约见时间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100" b="0">
                <a:solidFill>
                  <a:srgbClr val="9999AA"/>
                </a:solidFill>
                <a:latin typeface="微软雅黑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09728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91440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软雅黑"/>
              </a:rPr>
              <a:t>05  竞争优势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0">
                <a:solidFill>
                  <a:srgbClr val="00D2FF"/>
                </a:solidFill>
                <a:latin typeface="微软雅黑"/>
              </a:rPr>
              <a:t>与通用课表 App / 在线工具对比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377440" cy="502920"/>
          </a:xfrm>
          <a:prstGeom prst="round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3774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对比项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2103120"/>
            <a:ext cx="2560320" cy="502920"/>
          </a:xfrm>
          <a:prstGeom prst="round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2194560"/>
            <a:ext cx="2560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通用课表 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2103120"/>
            <a:ext cx="2560320" cy="502920"/>
          </a:xfrm>
          <a:prstGeom prst="round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2194560"/>
            <a:ext cx="2560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在线课表工具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103120"/>
            <a:ext cx="3840480" cy="502920"/>
          </a:xfrm>
          <a:prstGeom prst="round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194560"/>
            <a:ext cx="38404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校园工具箱（本项目）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606040"/>
            <a:ext cx="2377440" cy="566928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734056"/>
            <a:ext cx="21945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>
                <a:solidFill>
                  <a:srgbClr val="CCCCDD"/>
                </a:solidFill>
                <a:latin typeface="微软雅黑"/>
              </a:rPr>
              <a:t>共同空闲计算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08960" y="2606040"/>
            <a:ext cx="2560320" cy="566928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2734056"/>
            <a:ext cx="23774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>
                <a:solidFill>
                  <a:srgbClr val="CCCCDD"/>
                </a:solidFill>
                <a:latin typeface="微软雅黑"/>
              </a:rPr>
              <a:t>✗ 仅展示个人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0" y="2606040"/>
            <a:ext cx="2560320" cy="566928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2734056"/>
            <a:ext cx="23774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>
                <a:solidFill>
                  <a:srgbClr val="CCCCDD"/>
                </a:solidFill>
                <a:latin typeface="微软雅黑"/>
              </a:rPr>
              <a:t>部分支持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2606040"/>
            <a:ext cx="3840480" cy="566928"/>
          </a:xfrm>
          <a:prstGeom prst="roundRect">
            <a:avLst/>
          </a:prstGeom>
          <a:solidFill>
            <a:srgbClr val="1E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734056"/>
            <a:ext cx="3657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1">
                <a:solidFill>
                  <a:srgbClr val="00D2FF"/>
                </a:solidFill>
                <a:latin typeface="微软雅黑"/>
              </a:rPr>
              <a:t>✓ 多人共同空闲+排序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172968"/>
            <a:ext cx="2377440" cy="566928"/>
          </a:xfrm>
          <a:prstGeom prst="roundRect">
            <a:avLst/>
          </a:prstGeom>
          <a:solidFill>
            <a:srgbClr val="2D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300984"/>
            <a:ext cx="21945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>
                <a:solidFill>
                  <a:srgbClr val="CCCCDD"/>
                </a:solidFill>
                <a:latin typeface="微软雅黑"/>
              </a:rPr>
              <a:t>碎片合并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08960" y="3172968"/>
            <a:ext cx="2560320" cy="566928"/>
          </a:xfrm>
          <a:prstGeom prst="roundRect">
            <a:avLst/>
          </a:prstGeom>
          <a:solidFill>
            <a:srgbClr val="2D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0" y="3300984"/>
            <a:ext cx="23774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>
                <a:solidFill>
                  <a:srgbClr val="CCCCDD"/>
                </a:solidFill>
                <a:latin typeface="微软雅黑"/>
              </a:rPr>
              <a:t>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0" y="3172968"/>
            <a:ext cx="2560320" cy="566928"/>
          </a:xfrm>
          <a:prstGeom prst="roundRect">
            <a:avLst/>
          </a:prstGeom>
          <a:solidFill>
            <a:srgbClr val="2D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0" y="3300984"/>
            <a:ext cx="23774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>
                <a:solidFill>
                  <a:srgbClr val="CCCCDD"/>
                </a:solidFill>
                <a:latin typeface="微软雅黑"/>
              </a:rPr>
              <a:t>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3172968"/>
            <a:ext cx="3840480" cy="566928"/>
          </a:xfrm>
          <a:prstGeom prst="roundRect">
            <a:avLst/>
          </a:prstGeom>
          <a:solidFill>
            <a:srgbClr val="1E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3300984"/>
            <a:ext cx="3657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1">
                <a:solidFill>
                  <a:srgbClr val="00D2FF"/>
                </a:solidFill>
                <a:latin typeface="微软雅黑"/>
              </a:rPr>
              <a:t>✓ 可配置阈值自动合并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3739896"/>
            <a:ext cx="2377440" cy="566928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867912"/>
            <a:ext cx="21945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>
                <a:solidFill>
                  <a:srgbClr val="CCCCDD"/>
                </a:solidFill>
                <a:latin typeface="微软雅黑"/>
              </a:rPr>
              <a:t>数据隐私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08960" y="3739896"/>
            <a:ext cx="2560320" cy="566928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0" y="3867912"/>
            <a:ext cx="23774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>
                <a:solidFill>
                  <a:srgbClr val="CCCCDD"/>
                </a:solidFill>
                <a:latin typeface="微软雅黑"/>
              </a:rPr>
              <a:t>需登录上传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0" y="3739896"/>
            <a:ext cx="2560320" cy="566928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0" y="3867912"/>
            <a:ext cx="23774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>
                <a:solidFill>
                  <a:srgbClr val="CCCCDD"/>
                </a:solidFill>
                <a:latin typeface="微软雅黑"/>
              </a:rPr>
              <a:t>可能上传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3739896"/>
            <a:ext cx="3840480" cy="566928"/>
          </a:xfrm>
          <a:prstGeom prst="roundRect">
            <a:avLst/>
          </a:prstGeom>
          <a:solidFill>
            <a:srgbClr val="1E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3867912"/>
            <a:ext cx="3657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1">
                <a:solidFill>
                  <a:srgbClr val="00D2FF"/>
                </a:solidFill>
                <a:latin typeface="微软雅黑"/>
              </a:rPr>
              <a:t>✓ 纯前端，不上传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4306824"/>
            <a:ext cx="2377440" cy="566928"/>
          </a:xfrm>
          <a:prstGeom prst="roundRect">
            <a:avLst/>
          </a:prstGeom>
          <a:solidFill>
            <a:srgbClr val="2D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4434840"/>
            <a:ext cx="21945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>
                <a:solidFill>
                  <a:srgbClr val="CCCCDD"/>
                </a:solidFill>
                <a:latin typeface="微软雅黑"/>
              </a:rPr>
              <a:t>离线可用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108960" y="4306824"/>
            <a:ext cx="2560320" cy="566928"/>
          </a:xfrm>
          <a:prstGeom prst="roundRect">
            <a:avLst/>
          </a:prstGeom>
          <a:solidFill>
            <a:srgbClr val="2D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0" y="4434840"/>
            <a:ext cx="23774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>
                <a:solidFill>
                  <a:srgbClr val="CCCCDD"/>
                </a:solidFill>
                <a:latin typeface="微软雅黑"/>
              </a:rPr>
              <a:t>部分支持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0" y="4306824"/>
            <a:ext cx="2560320" cy="566928"/>
          </a:xfrm>
          <a:prstGeom prst="roundRect">
            <a:avLst/>
          </a:prstGeom>
          <a:solidFill>
            <a:srgbClr val="2D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60720" y="4434840"/>
            <a:ext cx="23774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>
                <a:solidFill>
                  <a:srgbClr val="CCCCDD"/>
                </a:solidFill>
                <a:latin typeface="微软雅黑"/>
              </a:rPr>
              <a:t>✗ 依赖网络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0" y="4306824"/>
            <a:ext cx="3840480" cy="566928"/>
          </a:xfrm>
          <a:prstGeom prst="roundRect">
            <a:avLst/>
          </a:prstGeom>
          <a:solidFill>
            <a:srgbClr val="1E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1040" y="4434840"/>
            <a:ext cx="3657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1">
                <a:solidFill>
                  <a:srgbClr val="00D2FF"/>
                </a:solidFill>
                <a:latin typeface="微软雅黑"/>
              </a:rPr>
              <a:t>✓ PWA 离线缓存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4873752"/>
            <a:ext cx="2377440" cy="566928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5001768"/>
            <a:ext cx="21945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>
                <a:solidFill>
                  <a:srgbClr val="CCCCDD"/>
                </a:solidFill>
                <a:latin typeface="微软雅黑"/>
              </a:rPr>
              <a:t>开源可审计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108960" y="4873752"/>
            <a:ext cx="2560320" cy="566928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0" y="5001768"/>
            <a:ext cx="23774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>
                <a:solidFill>
                  <a:srgbClr val="CCCCDD"/>
                </a:solidFill>
                <a:latin typeface="微软雅黑"/>
              </a:rPr>
              <a:t>✗ 闭源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669280" y="4873752"/>
            <a:ext cx="2560320" cy="566928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60720" y="5001768"/>
            <a:ext cx="23774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>
                <a:solidFill>
                  <a:srgbClr val="CCCCDD"/>
                </a:solidFill>
                <a:latin typeface="微软雅黑"/>
              </a:rPr>
              <a:t>部分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29600" y="4873752"/>
            <a:ext cx="3840480" cy="566928"/>
          </a:xfrm>
          <a:prstGeom prst="roundRect">
            <a:avLst/>
          </a:prstGeom>
          <a:solidFill>
            <a:srgbClr val="1E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21040" y="5001768"/>
            <a:ext cx="3657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1">
                <a:solidFill>
                  <a:srgbClr val="00D2FF"/>
                </a:solidFill>
                <a:latin typeface="微软雅黑"/>
              </a:rPr>
              <a:t>✓ GPL-3.0 完全开源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1520" y="5440680"/>
            <a:ext cx="2377440" cy="566928"/>
          </a:xfrm>
          <a:prstGeom prst="roundRect">
            <a:avLst/>
          </a:prstGeom>
          <a:solidFill>
            <a:srgbClr val="2D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2960" y="5568696"/>
            <a:ext cx="21945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>
                <a:solidFill>
                  <a:srgbClr val="CCCCDD"/>
                </a:solidFill>
                <a:latin typeface="微软雅黑"/>
              </a:rPr>
              <a:t>校园定制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108960" y="5440680"/>
            <a:ext cx="2560320" cy="566928"/>
          </a:xfrm>
          <a:prstGeom prst="roundRect">
            <a:avLst/>
          </a:prstGeom>
          <a:solidFill>
            <a:srgbClr val="2D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00400" y="5568696"/>
            <a:ext cx="23774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>
                <a:solidFill>
                  <a:srgbClr val="CCCCDD"/>
                </a:solidFill>
                <a:latin typeface="微软雅黑"/>
              </a:rPr>
              <a:t>✗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669280" y="5440680"/>
            <a:ext cx="2560320" cy="566928"/>
          </a:xfrm>
          <a:prstGeom prst="roundRect">
            <a:avLst/>
          </a:prstGeom>
          <a:solidFill>
            <a:srgbClr val="2D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60720" y="5568696"/>
            <a:ext cx="23774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>
                <a:solidFill>
                  <a:srgbClr val="CCCCDD"/>
                </a:solidFill>
                <a:latin typeface="微软雅黑"/>
              </a:rPr>
              <a:t>✗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229600" y="5440680"/>
            <a:ext cx="3840480" cy="566928"/>
          </a:xfrm>
          <a:prstGeom prst="roundRect">
            <a:avLst/>
          </a:prstGeom>
          <a:solidFill>
            <a:srgbClr val="1E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21040" y="5568696"/>
            <a:ext cx="3657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1">
                <a:solidFill>
                  <a:srgbClr val="00D2FF"/>
                </a:solidFill>
                <a:latin typeface="微软雅黑"/>
              </a:rPr>
              <a:t>✓ 面向大学生场景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100" b="0">
                <a:solidFill>
                  <a:srgbClr val="9999AA"/>
                </a:solidFill>
                <a:latin typeface="微软雅黑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09728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91440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软雅黑"/>
              </a:rPr>
              <a:t>06  技术亮点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192024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2103120"/>
            <a:ext cx="73152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057400"/>
            <a:ext cx="27432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00D2FF"/>
                </a:solidFill>
                <a:latin typeface="微软雅黑"/>
              </a:rPr>
              <a:t>时间建模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06040"/>
            <a:ext cx="2743200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微软雅黑"/>
              </a:rPr>
              <a:t>统一用「从 00:00 起的分钟数」表示
避免字符串比较出错，区间运算高效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828800"/>
            <a:ext cx="3383280" cy="192024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79" y="2103120"/>
            <a:ext cx="73152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59" y="2057400"/>
            <a:ext cx="27432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00D2FF"/>
                </a:solidFill>
                <a:latin typeface="微软雅黑"/>
              </a:rPr>
              <a:t>区间合并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59" y="2606040"/>
            <a:ext cx="2743200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微软雅黑"/>
              </a:rPr>
              <a:t>排序后贪心合并，gap_tol 吸收课间小间隔
O(n log n)，连堂课不再产生碎片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828800"/>
            <a:ext cx="3383280" cy="192024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03920" y="2103120"/>
            <a:ext cx="73152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2057400"/>
            <a:ext cx="27432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00D2FF"/>
                </a:solidFill>
                <a:latin typeface="微软雅黑"/>
              </a:rPr>
              <a:t>区间交集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606040"/>
            <a:ext cx="2743200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微软雅黑"/>
              </a:rPr>
              <a:t>双指针求多人空闲区间交集
得到共同空闲时段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14800"/>
            <a:ext cx="3383280" cy="192024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05840" y="4389120"/>
            <a:ext cx="73152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343400"/>
            <a:ext cx="27432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00D2FF"/>
                </a:solidFill>
                <a:latin typeface="微软雅黑"/>
              </a:rPr>
              <a:t>PWA 离线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892040"/>
            <a:ext cx="2743200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微软雅黑"/>
              </a:rPr>
              <a:t>基于 vite-plugin-pwa 的 Service Worker
静态资源预缓存，断网可访问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4114800"/>
            <a:ext cx="3383280" cy="192024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79" y="4389120"/>
            <a:ext cx="73152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59" y="4343400"/>
            <a:ext cx="27432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00D2FF"/>
                </a:solidFill>
                <a:latin typeface="微软雅黑"/>
              </a:rPr>
              <a:t>纯前端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59" y="4892040"/>
            <a:ext cx="2743200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微软雅黑"/>
              </a:rPr>
              <a:t>无后端服务，所有计算在浏览器完成
零服务器成本，数据隐私有保障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114800"/>
            <a:ext cx="3383280" cy="192024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503920" y="4389120"/>
            <a:ext cx="73152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343400"/>
            <a:ext cx="27432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00D2FF"/>
                </a:solidFill>
                <a:latin typeface="微软雅黑"/>
              </a:rPr>
              <a:t>组件化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892040"/>
            <a:ext cx="2743200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微软雅黑"/>
              </a:rPr>
              <a:t>遵循 it-tools「一工具一组件」规范
新增工具门槛低，便于学生共建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100" b="0">
                <a:solidFill>
                  <a:srgbClr val="9999AA"/>
                </a:solidFill>
                <a:latin typeface="微软雅黑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09728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91440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软雅黑"/>
              </a:rPr>
              <a:t>07  推广方案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0">
                <a:solidFill>
                  <a:srgbClr val="00D2FF"/>
                </a:solidFill>
                <a:latin typeface="微软雅黑"/>
              </a:rPr>
              <a:t>怎么让同学用起来</a:t>
            </a:r>
          </a:p>
        </p:txBody>
      </p:sp>
      <p:sp>
        <p:nvSpPr>
          <p:cNvPr id="6" name="Oval 5"/>
          <p:cNvSpPr/>
          <p:nvPr/>
        </p:nvSpPr>
        <p:spPr>
          <a:xfrm>
            <a:off x="1645920" y="2286000"/>
            <a:ext cx="914400" cy="9144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468880"/>
            <a:ext cx="9144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3200" b="1">
                <a:solidFill>
                  <a:srgbClr val="1A1A2E"/>
                </a:solidFill>
                <a:latin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27432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班级试点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27432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>
                <a:solidFill>
                  <a:srgbClr val="CCCCDD"/>
                </a:solidFill>
                <a:latin typeface="微软雅黑"/>
              </a:rPr>
              <a:t>先在本班/本院推广
收集反馈快速迭代</a:t>
            </a:r>
          </a:p>
        </p:txBody>
      </p:sp>
      <p:sp>
        <p:nvSpPr>
          <p:cNvPr id="10" name="Oval 9"/>
          <p:cNvSpPr/>
          <p:nvPr/>
        </p:nvSpPr>
        <p:spPr>
          <a:xfrm>
            <a:off x="4480560" y="2286000"/>
            <a:ext cx="914400" cy="9144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468880"/>
            <a:ext cx="9144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3200" b="1">
                <a:solidFill>
                  <a:srgbClr val="1A1A2E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383280"/>
            <a:ext cx="27432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场景绑定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931920"/>
            <a:ext cx="27432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>
                <a:solidFill>
                  <a:srgbClr val="CCCCDD"/>
                </a:solidFill>
                <a:latin typeface="微软雅黑"/>
              </a:rPr>
              <a:t>约自习 · 组队作业 · 社团排会
在高频场景下推荐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0" y="2286000"/>
            <a:ext cx="914400" cy="9144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2468880"/>
            <a:ext cx="9144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3200" b="1">
                <a:solidFill>
                  <a:srgbClr val="1A1A2E"/>
                </a:solidFill>
                <a:latin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383280"/>
            <a:ext cx="27432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鼓励共建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931920"/>
            <a:ext cx="27432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>
                <a:solidFill>
                  <a:srgbClr val="CCCCDD"/>
                </a:solidFill>
                <a:latin typeface="微软雅黑"/>
              </a:rPr>
              <a:t>架构简单，学生可贡献工具
形成正向生态循环</a:t>
            </a:r>
          </a:p>
        </p:txBody>
      </p:sp>
      <p:sp>
        <p:nvSpPr>
          <p:cNvPr id="18" name="Oval 17"/>
          <p:cNvSpPr/>
          <p:nvPr/>
        </p:nvSpPr>
        <p:spPr>
          <a:xfrm>
            <a:off x="10149840" y="2286000"/>
            <a:ext cx="914400" cy="9144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49840" y="2468880"/>
            <a:ext cx="9144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3200" b="1">
                <a:solidFill>
                  <a:srgbClr val="1A1A2E"/>
                </a:solidFill>
                <a:latin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383280"/>
            <a:ext cx="27432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校内部署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931920"/>
            <a:ext cx="27432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>
                <a:solidFill>
                  <a:srgbClr val="CCCCDD"/>
                </a:solidFill>
                <a:latin typeface="微软雅黑"/>
              </a:rPr>
              <a:t>部署到学校服务器/静态托管
提供稳定访问地址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846320"/>
            <a:ext cx="10058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00D2FF"/>
                </a:solidFill>
                <a:latin typeface="微软雅黑"/>
              </a:rPr>
              <a:t>后续可扩展工具方向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394960"/>
            <a:ext cx="10698480" cy="9144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577840"/>
            <a:ext cx="1033272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0">
                <a:solidFill>
                  <a:srgbClr val="CCCCDD"/>
                </a:solidFill>
                <a:latin typeface="微软雅黑"/>
              </a:rPr>
              <a:t>绩点/加权平均分换算  ·  课表冲突检测  ·  公文格式自检  ·  论文参考文献格式转换  ·  考试倒计时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100" b="0">
                <a:solidFill>
                  <a:srgbClr val="9999AA"/>
                </a:solidFill>
                <a:latin typeface="微软雅黑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09728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91440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软雅黑"/>
              </a:rPr>
              <a:t>08  开源许可证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0">
                <a:solidFill>
                  <a:srgbClr val="00D2FF"/>
                </a:solidFill>
                <a:latin typeface="微软雅黑"/>
              </a:rPr>
              <a:t>对 GPL-3.0 「传染性」的理解与遵守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6583680" cy="41148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62179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00D2FF"/>
                </a:solidFill>
                <a:latin typeface="微软雅黑"/>
              </a:rPr>
              <a:t>什么是 GPL-3.0 的传染性？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621792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CCCCDD"/>
                </a:solidFill>
                <a:latin typeface="微软雅黑"/>
              </a:rPr>
              <a:t>GPL-3.0 是强 copyleft 许可证。
核心规则：只要你的项目使用了（链接/修改/衍生）GPL-3.0 代码，
并且对外发布（分发），那么整个衍生作品也必须以 GPL-3.0 开源。
对本项目的影响：
• it-tools 采用 GPL-3.0，我们 fork 并修改后发布给同学使用，
  因此所有改动（含新增工具）必须以 GPL-3.0 开源。
• 不能将改造版本变成闭源商业产品。
• 我们的 fork 已保留 LICENSE 文件，符合 GPL-3.0 要求。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2103120"/>
            <a:ext cx="3840480" cy="4114800"/>
          </a:xfrm>
          <a:prstGeom prst="round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2468880"/>
            <a:ext cx="34747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</a:rPr>
              <a:t>我们的承诺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3200400"/>
            <a:ext cx="34747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微软雅黑"/>
              </a:rPr>
              <a:t>✓ 完全开源，GPL-3.0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3749039"/>
            <a:ext cx="34747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微软雅黑"/>
              </a:rPr>
              <a:t>✓ 保留原 LICENSE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4297680"/>
            <a:ext cx="34747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微软雅黑"/>
              </a:rPr>
              <a:t>✓ 欢迎自由使用/修改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4846320"/>
            <a:ext cx="34747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微软雅黑"/>
              </a:rPr>
              <a:t>✓ 不用于闭源商业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5394960"/>
            <a:ext cx="34747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微软雅黑"/>
              </a:rPr>
              <a:t>✓ 分发时保持开源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100" b="0">
                <a:solidFill>
                  <a:srgbClr val="9999AA"/>
                </a:solidFill>
                <a:latin typeface="微软雅黑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09728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91440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软雅黑"/>
              </a:rPr>
              <a:t>09  项目成果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4864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00D2FF"/>
                </a:solidFill>
                <a:latin typeface="微软雅黑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74520"/>
            <a:ext cx="4572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微软雅黑"/>
              </a:rPr>
              <a:t>Fork it-tools 并新增工具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4864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00D2FF"/>
                </a:solidFill>
                <a:latin typeface="微软雅黑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874520"/>
            <a:ext cx="4572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微软雅黑"/>
              </a:rPr>
              <a:t>课表空闲时段计算（原项目没有）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54864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00D2FF"/>
                </a:solidFill>
                <a:latin typeface="微软雅黑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651760"/>
            <a:ext cx="4572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微软雅黑"/>
              </a:rPr>
              <a:t>中文界面与本地化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606040"/>
            <a:ext cx="54864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00D2FF"/>
                </a:solidFill>
                <a:latin typeface="微软雅黑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651760"/>
            <a:ext cx="4572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微软雅黑"/>
              </a:rPr>
              <a:t>PWA 离线可用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83280"/>
            <a:ext cx="54864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00D2FF"/>
                </a:solidFill>
                <a:latin typeface="微软雅黑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429000"/>
            <a:ext cx="4572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微软雅黑"/>
              </a:rPr>
              <a:t>本地构建验证通过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383280"/>
            <a:ext cx="54864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00D2FF"/>
                </a:solidFill>
                <a:latin typeface="微软雅黑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429000"/>
            <a:ext cx="4572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微软雅黑"/>
              </a:rPr>
              <a:t>项目策划书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60520"/>
            <a:ext cx="54864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00D2FF"/>
                </a:solidFill>
                <a:latin typeface="微软雅黑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206240"/>
            <a:ext cx="4572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微软雅黑"/>
              </a:rPr>
              <a:t>双创大赛 PPT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160520"/>
            <a:ext cx="54864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00D2FF"/>
                </a:solidFill>
                <a:latin typeface="微软雅黑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206240"/>
            <a:ext cx="4572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微软雅黑"/>
              </a:rPr>
              <a:t>GPL-3.0 合规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100" b="0">
                <a:solidFill>
                  <a:srgbClr val="9999AA"/>
                </a:solidFill>
                <a:latin typeface="微软雅黑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0" y="914400"/>
            <a:ext cx="4572000" cy="4572000"/>
          </a:xfrm>
          <a:prstGeom prst="ellipse">
            <a:avLst/>
          </a:prstGeom>
          <a:solidFill>
            <a:srgbClr val="7C4DFF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560320"/>
            <a:ext cx="12191695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微软雅黑"/>
              </a:rP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840480"/>
            <a:ext cx="12191695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2200" b="0">
                <a:solidFill>
                  <a:srgbClr val="00D2FF"/>
                </a:solidFill>
                <a:latin typeface="微软雅黑"/>
              </a:rPr>
              <a:t>校园工具箱 · 让校园生活更高效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754880"/>
            <a:ext cx="12191695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0">
                <a:solidFill>
                  <a:srgbClr val="9999AA"/>
                </a:solidFill>
                <a:latin typeface="微软雅黑"/>
              </a:rPr>
              <a:t>开源地址：https://github.com/eleven1130/-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100" b="0">
                <a:solidFill>
                  <a:srgbClr val="9999AA"/>
                </a:solidFill>
                <a:latin typeface="微软雅黑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